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Quattrocento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E8222B-225F-4B6D-BB30-33DF1FAB5BA6}">
  <a:tblStyle styleId="{5CE8222B-225F-4B6D-BB30-33DF1FAB5B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7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799bab9c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b799bab9c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b799bab9c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b799bab9c_3_8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799bab9c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b799bab9c_3_9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b799bab9c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b799bab9c_3_1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b799bab9c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799bab9c_3_1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b799bab9c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b799bab9c_3_1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b799bab9c_3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b799bab9c_3_14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799bab9c_3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b799bab9c_3_16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b799bab9c_3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b799bab9c_3_16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b799bab9c_3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b799bab9c_3_17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b799bab9c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b799bab9c_3_1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b799bab9c_3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b799bab9c_3_20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b799bab9c_3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b799bab9c_3_21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b799bab9c_3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b799bab9c_3_23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b799bab9c_3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b799bab9c_3_24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b799bab9c_3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b799bab9c_3_25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b799bab9c_3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b799bab9c_3_26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b799bab9c_3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b799bab9c_3_2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b799bab9c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b799bab9c_3_2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b799bab9c_3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b799bab9c_3_3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b799bab9c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b799bab9c_3_3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b799bab9c_3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b799bab9c_3_33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b799bab9c_3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b799bab9c_3_34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b799bab9c_3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b799bab9c_3_35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b799bab9c_3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b799bab9c_3_36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b799bab9c_3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b799bab9c_3_38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b799bab9c_3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b799bab9c_3_43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617236" y="1714500"/>
            <a:ext cx="790954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VAE and a DDPM on CelebA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617236" y="2366010"/>
            <a:ext cx="79095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generative models of 64×64 faces, built from primitive PyTorch layers</a:t>
            </a:r>
            <a:endParaRPr sz="1100"/>
          </a:p>
        </p:txBody>
      </p:sp>
      <p:cxnSp>
        <p:nvCxnSpPr>
          <p:cNvPr id="131" name="Google Shape;131;p25"/>
          <p:cNvCxnSpPr/>
          <p:nvPr/>
        </p:nvCxnSpPr>
        <p:spPr>
          <a:xfrm>
            <a:off x="617236" y="2948940"/>
            <a:ext cx="1508800" cy="0"/>
          </a:xfrm>
          <a:prstGeom prst="straightConnector1">
            <a:avLst/>
          </a:prstGeom>
          <a:noFill/>
          <a:ln cap="flat" cmpd="sng" w="19050">
            <a:solidFill>
              <a:srgbClr val="0B0B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</a:t>
            </a:r>
            <a:endParaRPr sz="1100"/>
          </a:p>
        </p:txBody>
      </p:sp>
      <p:sp>
        <p:nvSpPr>
          <p:cNvPr id="137" name="Google Shape;137;p26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task</a:t>
            </a:r>
            <a:endParaRPr sz="1100"/>
          </a:p>
        </p:txBody>
      </p:sp>
      <p:cxnSp>
        <p:nvCxnSpPr>
          <p:cNvPr id="138" name="Google Shape;138;p26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9" name="Google Shape;139;p26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617236" y="1268730"/>
            <a:ext cx="7909542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 a distribution over CelebA faces and sample new ones.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compress an image to a 128-number code, decode codes back to pixels.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learn to reverse a process that turns an image into noise.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202,599 images · 64×64 · scored with the same FID and IS pipeline.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617236" y="3017520"/>
            <a:ext cx="205745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2A78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72.06</a:t>
            </a:r>
            <a:endParaRPr sz="1100"/>
          </a:p>
        </p:txBody>
      </p:sp>
      <p:sp>
        <p:nvSpPr>
          <p:cNvPr id="142" name="Google Shape;142;p26"/>
          <p:cNvSpPr txBox="1"/>
          <p:nvPr/>
        </p:nvSpPr>
        <p:spPr>
          <a:xfrm>
            <a:off x="617236" y="3579876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— FID</a:t>
            </a:r>
            <a:endParaRPr sz="1100"/>
          </a:p>
        </p:txBody>
      </p:sp>
      <p:sp>
        <p:nvSpPr>
          <p:cNvPr id="143" name="Google Shape;143;p26"/>
          <p:cNvSpPr txBox="1"/>
          <p:nvPr/>
        </p:nvSpPr>
        <p:spPr>
          <a:xfrm>
            <a:off x="617236" y="3785616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 min training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3497673" y="3017520"/>
            <a:ext cx="205745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EB683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9.63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3497673" y="3579876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— FID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3497673" y="3785616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h 13 min training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endParaRPr sz="1100"/>
          </a:p>
        </p:txBody>
      </p:sp>
      <p:sp>
        <p:nvSpPr>
          <p:cNvPr id="152" name="Google Shape;152;p27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Preprocessing</a:t>
            </a:r>
            <a:endParaRPr sz="1100"/>
          </a:p>
        </p:txBody>
      </p:sp>
      <p:cxnSp>
        <p:nvCxnSpPr>
          <p:cNvPr id="153" name="Google Shape;153;p27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4" name="Google Shape;154;p27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sz="1100"/>
          </a:p>
        </p:txBody>
      </p:sp>
      <p:sp>
        <p:nvSpPr>
          <p:cNvPr id="155" name="Google Shape;155;p27"/>
          <p:cNvSpPr txBox="1"/>
          <p:nvPr/>
        </p:nvSpPr>
        <p:spPr>
          <a:xfrm>
            <a:off x="617236" y="1303020"/>
            <a:ext cx="7909542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Crop the central 178×178 square — the extra height is background.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Resize to 64×64.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Random horizontal flip — training split only.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Scale pixels to </a:t>
            </a: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[−1, 1]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/>
          </a:p>
        </p:txBody>
      </p:sp>
      <p:cxnSp>
        <p:nvCxnSpPr>
          <p:cNvPr id="156" name="Google Shape;156;p27"/>
          <p:cNvCxnSpPr/>
          <p:nvPr/>
        </p:nvCxnSpPr>
        <p:spPr>
          <a:xfrm>
            <a:off x="617236" y="301752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7" name="Google Shape;157;p27"/>
          <p:cNvSpPr txBox="1"/>
          <p:nvPr/>
        </p:nvSpPr>
        <p:spPr>
          <a:xfrm>
            <a:off x="617236" y="3223260"/>
            <a:ext cx="79095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[−1, 1]:</a:t>
            </a: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the VAE decoder ends in tanh, so data and output space match.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DDPM mixes images with unit Gaussian noise </a:t>
            </a:r>
            <a:r>
              <a:rPr lang="en" sz="1100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centered around 0</a:t>
            </a: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MODEL</a:t>
            </a:r>
            <a:endParaRPr sz="1100"/>
          </a:p>
        </p:txBody>
      </p:sp>
      <p:sp>
        <p:nvSpPr>
          <p:cNvPr id="163" name="Google Shape;163;p28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generative story</a:t>
            </a:r>
            <a:endParaRPr sz="1100"/>
          </a:p>
        </p:txBody>
      </p:sp>
      <p:cxnSp>
        <p:nvCxnSpPr>
          <p:cNvPr id="164" name="Google Shape;164;p28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5" name="Google Shape;165;p28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sz="1100"/>
          </a:p>
        </p:txBody>
      </p:sp>
      <p:sp>
        <p:nvSpPr>
          <p:cNvPr id="166" name="Google Shape;166;p28"/>
          <p:cNvSpPr txBox="1"/>
          <p:nvPr/>
        </p:nvSpPr>
        <p:spPr>
          <a:xfrm>
            <a:off x="617236" y="137160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 Draw a latent code</a:t>
            </a:r>
            <a:endParaRPr sz="1100"/>
          </a:p>
        </p:txBody>
      </p:sp>
      <p:pic>
        <p:nvPicPr>
          <p:cNvPr descr="vae_prior.png"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6556" y="1632204"/>
            <a:ext cx="1190872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617236" y="216027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 Decode it into pixels</a:t>
            </a:r>
            <a:endParaRPr sz="1100"/>
          </a:p>
        </p:txBody>
      </p:sp>
      <p:pic>
        <p:nvPicPr>
          <p:cNvPr descr="vae_decoder.png" id="169" name="Google Shape;1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3836" y="2420874"/>
            <a:ext cx="1236311" cy="3086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8"/>
          <p:cNvCxnSpPr/>
          <p:nvPr/>
        </p:nvCxnSpPr>
        <p:spPr>
          <a:xfrm>
            <a:off x="617236" y="312039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1" name="Google Shape;171;p28"/>
          <p:cNvSpPr txBox="1"/>
          <p:nvPr/>
        </p:nvSpPr>
        <p:spPr>
          <a:xfrm>
            <a:off x="617236" y="329184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p(z | x) is intractable, so a second network approximates it:</a:t>
            </a:r>
            <a:endParaRPr sz="1100"/>
          </a:p>
        </p:txBody>
      </p:sp>
      <p:pic>
        <p:nvPicPr>
          <p:cNvPr descr="vae_posterior.png" id="172" name="Google Shape;17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5883" y="3600450"/>
            <a:ext cx="3052167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LOSS</a:t>
            </a:r>
            <a:endParaRPr sz="1100"/>
          </a:p>
        </p:txBody>
      </p:sp>
      <p:sp>
        <p:nvSpPr>
          <p:cNvPr id="178" name="Google Shape;178;p29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objective</a:t>
            </a:r>
            <a:endParaRPr sz="1100"/>
          </a:p>
        </p:txBody>
      </p:sp>
      <p:cxnSp>
        <p:nvCxnSpPr>
          <p:cNvPr id="179" name="Google Shape;179;p29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0" name="Google Shape;180;p29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sz="1100"/>
          </a:p>
        </p:txBody>
      </p:sp>
      <p:sp>
        <p:nvSpPr>
          <p:cNvPr id="181" name="Google Shape;181;p29"/>
          <p:cNvSpPr txBox="1"/>
          <p:nvPr/>
        </p:nvSpPr>
        <p:spPr>
          <a:xfrm>
            <a:off x="617236" y="126873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 p(x) is intractable — the ELBO bounds it:</a:t>
            </a:r>
            <a:endParaRPr sz="1100"/>
          </a:p>
        </p:txBody>
      </p:sp>
      <p:pic>
        <p:nvPicPr>
          <p:cNvPr descr="vae_elbo.png"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017" y="1577340"/>
            <a:ext cx="538983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617236" y="226314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Negating gives two terms with distinct jobs:</a:t>
            </a:r>
            <a:endParaRPr sz="1100"/>
          </a:p>
        </p:txBody>
      </p:sp>
      <p:pic>
        <p:nvPicPr>
          <p:cNvPr descr="vae_loss.png" id="184" name="Google Shape;1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1048" y="2571750"/>
            <a:ext cx="2581850" cy="2880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9"/>
          <p:cNvCxnSpPr/>
          <p:nvPr/>
        </p:nvCxnSpPr>
        <p:spPr>
          <a:xfrm>
            <a:off x="617236" y="325755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6" name="Google Shape;186;p29"/>
          <p:cNvSpPr txBox="1"/>
          <p:nvPr/>
        </p:nvSpPr>
        <p:spPr>
          <a:xfrm>
            <a:off x="617236" y="3463290"/>
            <a:ext cx="79095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Reconstruction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keeps the decoder honest (resemb</a:t>
            </a:r>
            <a:r>
              <a:rPr lang="en" sz="1200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the input image as close as possible)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KL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pulls the encoder's output onto the prior — which is what makes N(0, I) a valid place to sample from.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LOSS</a:t>
            </a:r>
            <a:endParaRPr sz="1100"/>
          </a:p>
        </p:txBody>
      </p:sp>
      <p:sp>
        <p:nvSpPr>
          <p:cNvPr id="192" name="Google Shape;192;p30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two terms</a:t>
            </a:r>
            <a:endParaRPr sz="1100"/>
          </a:p>
        </p:txBody>
      </p:sp>
      <p:cxnSp>
        <p:nvCxnSpPr>
          <p:cNvPr id="193" name="Google Shape;193;p30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4" name="Google Shape;194;p30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sz="1100"/>
          </a:p>
        </p:txBody>
      </p:sp>
      <p:sp>
        <p:nvSpPr>
          <p:cNvPr id="195" name="Google Shape;195;p30"/>
          <p:cNvSpPr txBox="1"/>
          <p:nvPr/>
        </p:nvSpPr>
        <p:spPr>
          <a:xfrm>
            <a:off x="617236" y="1268730"/>
            <a:ext cx="37490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Reconstruction</a:t>
            </a:r>
            <a:endParaRPr sz="1100"/>
          </a:p>
        </p:txBody>
      </p:sp>
      <p:pic>
        <p:nvPicPr>
          <p:cNvPr descr="vae_recon.png" id="196" name="Google Shape;1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9047" y="1577340"/>
            <a:ext cx="1545362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4777753" y="1268730"/>
            <a:ext cx="37490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KL, in closed form</a:t>
            </a:r>
            <a:endParaRPr sz="1100"/>
          </a:p>
        </p:txBody>
      </p:sp>
      <p:pic>
        <p:nvPicPr>
          <p:cNvPr descr="vae_kl.png" id="198" name="Google Shape;1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7336" y="1680210"/>
            <a:ext cx="2169802" cy="377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30"/>
          <p:cNvCxnSpPr/>
          <p:nvPr/>
        </p:nvCxnSpPr>
        <p:spPr>
          <a:xfrm>
            <a:off x="617236" y="246888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30"/>
          <p:cNvSpPr txBox="1"/>
          <p:nvPr/>
        </p:nvSpPr>
        <p:spPr>
          <a:xfrm>
            <a:off x="617236" y="2708910"/>
            <a:ext cx="79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lang="en" sz="1200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reconstruction is just squared error, while the KL closed form rewards the zero mean and unit variance.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TRAINING</a:t>
            </a:r>
            <a:endParaRPr sz="1100"/>
          </a:p>
        </p:txBody>
      </p:sp>
      <p:sp>
        <p:nvSpPr>
          <p:cNvPr id="206" name="Google Shape;206;p31"/>
          <p:cNvSpPr txBox="1"/>
          <p:nvPr/>
        </p:nvSpPr>
        <p:spPr>
          <a:xfrm>
            <a:off x="617236" y="534924"/>
            <a:ext cx="790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Reparameterization</a:t>
            </a:r>
            <a:endParaRPr sz="1100"/>
          </a:p>
        </p:txBody>
      </p:sp>
      <p:cxnSp>
        <p:nvCxnSpPr>
          <p:cNvPr id="207" name="Google Shape;207;p31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8" name="Google Shape;208;p31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sz="1100"/>
          </a:p>
        </p:txBody>
      </p:sp>
      <p:sp>
        <p:nvSpPr>
          <p:cNvPr id="209" name="Google Shape;209;p31"/>
          <p:cNvSpPr txBox="1"/>
          <p:nvPr/>
        </p:nvSpPr>
        <p:spPr>
          <a:xfrm>
            <a:off x="617236" y="130302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is not differentiable — so rewrite z as a deterministic function of the parameters plus parameter-independent noise:</a:t>
            </a:r>
            <a:endParaRPr sz="1100"/>
          </a:p>
        </p:txBody>
      </p:sp>
      <p:pic>
        <p:nvPicPr>
          <p:cNvPr descr="vae_reparam.png" id="210" name="Google Shape;21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342" y="1851660"/>
            <a:ext cx="3457239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e_grad.png" id="211" name="Google Shape;21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2357" y="2537460"/>
            <a:ext cx="2039246" cy="411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31"/>
          <p:cNvCxnSpPr/>
          <p:nvPr/>
        </p:nvCxnSpPr>
        <p:spPr>
          <a:xfrm>
            <a:off x="617236" y="329184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3" name="Google Shape;213;p31"/>
          <p:cNvSpPr txBox="1"/>
          <p:nvPr/>
        </p:nvSpPr>
        <p:spPr>
          <a:xfrm>
            <a:off x="617236" y="3497580"/>
            <a:ext cx="7909542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Gradients now reach the encoder. Without this the VAE cannot be trained at all.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STEPS</a:t>
            </a:r>
            <a:endParaRPr sz="1100"/>
          </a:p>
        </p:txBody>
      </p:sp>
      <p:sp>
        <p:nvSpPr>
          <p:cNvPr id="219" name="Google Shape;219;p32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training step</a:t>
            </a:r>
            <a:endParaRPr sz="1100"/>
          </a:p>
        </p:txBody>
      </p:sp>
      <p:cxnSp>
        <p:nvCxnSpPr>
          <p:cNvPr id="220" name="Google Shape;220;p32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1" name="Google Shape;221;p32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sz="1100"/>
          </a:p>
        </p:txBody>
      </p:sp>
      <p:sp>
        <p:nvSpPr>
          <p:cNvPr id="222" name="Google Shape;222;p32"/>
          <p:cNvSpPr txBox="1"/>
          <p:nvPr/>
        </p:nvSpPr>
        <p:spPr>
          <a:xfrm>
            <a:off x="617236" y="1371600"/>
            <a:ext cx="790954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Encode the batch  →  μ,  log σ²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Sample  z = μ + σ ⊙ ε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Decode  →  x̂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Loss = summed squared error  +  KL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Backpropagate — through the decoder, and through μ and σ into the encoder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NETWORK</a:t>
            </a:r>
            <a:endParaRPr sz="1100"/>
          </a:p>
        </p:txBody>
      </p:sp>
      <p:sp>
        <p:nvSpPr>
          <p:cNvPr id="228" name="Google Shape;228;p33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 sz="1100"/>
          </a:p>
        </p:txBody>
      </p:sp>
      <p:cxnSp>
        <p:nvCxnSpPr>
          <p:cNvPr id="229" name="Google Shape;229;p33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0" name="Google Shape;230;p33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 sz="1100"/>
          </a:p>
        </p:txBody>
      </p:sp>
      <p:graphicFrame>
        <p:nvGraphicFramePr>
          <p:cNvPr id="231" name="Google Shape;231;p33"/>
          <p:cNvGraphicFramePr/>
          <p:nvPr/>
        </p:nvGraphicFramePr>
        <p:xfrm>
          <a:off x="617236" y="1405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{5CE8222B-225F-4B6D-BB30-33DF1FAB5BA6}</a:tableStyleId>
              </a:tblPr>
              <a:tblGrid>
                <a:gridCol w="1028725"/>
                <a:gridCol w="4183475"/>
                <a:gridCol w="2674675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Encoder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 × (Conv k=4 s=2 p=1 → BatchNorm → LeakyReLU)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64 → 512 ch,  64² → 4²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Heads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two Linear layers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μ  and  log σ²,  128-d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Decoder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Linear → 4 × ConvTranspose → 3×3 conv → tanh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4² → 64²,  3 ch out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Size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8.73M parameters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4.86M encoder + 3.88M decoder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2" name="Google Shape;232;p33"/>
          <p:cNvCxnSpPr/>
          <p:nvPr/>
        </p:nvCxnSpPr>
        <p:spPr>
          <a:xfrm>
            <a:off x="617236" y="332613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3" name="Google Shape;233;p33"/>
          <p:cNvSpPr txBox="1"/>
          <p:nvPr/>
        </p:nvSpPr>
        <p:spPr>
          <a:xfrm>
            <a:off x="617236" y="3531870"/>
            <a:ext cx="79095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k=4, s=2, p=1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halves H exactly, and its transpose doubles it exactly.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final 3×3 conv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cleans up transposed-convolution checkerboard artefacts.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LIMIT</a:t>
            </a:r>
            <a:endParaRPr sz="1100"/>
          </a:p>
        </p:txBody>
      </p:sp>
      <p:sp>
        <p:nvSpPr>
          <p:cNvPr id="239" name="Google Shape;239;p34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VAE samples are blurry</a:t>
            </a:r>
            <a:endParaRPr sz="1100"/>
          </a:p>
        </p:txBody>
      </p:sp>
      <p:cxnSp>
        <p:nvCxnSpPr>
          <p:cNvPr id="240" name="Google Shape;240;p34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1" name="Google Shape;241;p34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1100"/>
          </a:p>
        </p:txBody>
      </p:sp>
      <p:sp>
        <p:nvSpPr>
          <p:cNvPr id="242" name="Google Shape;242;p34"/>
          <p:cNvSpPr txBox="1"/>
          <p:nvPr/>
        </p:nvSpPr>
        <p:spPr>
          <a:xfrm>
            <a:off x="617236" y="1371600"/>
            <a:ext cx="790954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Per-pixel squared error is the log-likelihood of a Gaussian decoder.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several plausible images fit a code equally well, the loss is minimised by their </a:t>
            </a:r>
            <a:r>
              <a:rPr b="1" i="0" lang="en" sz="14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average</a:t>
            </a:r>
            <a:r>
              <a:rPr b="0" i="0" lang="en" sz="14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average of many sharp faces is a smooth face.</a:t>
            </a:r>
            <a:endParaRPr sz="1100"/>
          </a:p>
        </p:txBody>
      </p:sp>
      <p:cxnSp>
        <p:nvCxnSpPr>
          <p:cNvPr id="243" name="Google Shape;243;p34"/>
          <p:cNvCxnSpPr/>
          <p:nvPr/>
        </p:nvCxnSpPr>
        <p:spPr>
          <a:xfrm>
            <a:off x="617236" y="2846070"/>
            <a:ext cx="1508800" cy="0"/>
          </a:xfrm>
          <a:prstGeom prst="straightConnector1">
            <a:avLst/>
          </a:prstGeom>
          <a:noFill/>
          <a:ln cap="flat" cmpd="sng" w="19050">
            <a:solidFill>
              <a:srgbClr val="EB68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34"/>
          <p:cNvSpPr txBox="1"/>
          <p:nvPr/>
        </p:nvSpPr>
        <p:spPr>
          <a:xfrm>
            <a:off x="617236" y="3051810"/>
            <a:ext cx="79095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follows from the objective, so no amount of training fixes it.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is the main </a:t>
            </a:r>
            <a:r>
              <a:rPr lang="en" sz="1200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thing </a:t>
            </a:r>
            <a:r>
              <a:rPr b="0" i="0" lang="en" sz="12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 which diffusion wins.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MODEL</a:t>
            </a:r>
            <a:endParaRPr sz="1100"/>
          </a:p>
        </p:txBody>
      </p:sp>
      <p:sp>
        <p:nvSpPr>
          <p:cNvPr id="250" name="Google Shape;250;p35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forward process</a:t>
            </a:r>
            <a:endParaRPr sz="1100"/>
          </a:p>
        </p:txBody>
      </p:sp>
      <p:cxnSp>
        <p:nvCxnSpPr>
          <p:cNvPr id="251" name="Google Shape;251;p35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2" name="Google Shape;252;p35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sz="1100"/>
          </a:p>
        </p:txBody>
      </p:sp>
      <p:sp>
        <p:nvSpPr>
          <p:cNvPr id="253" name="Google Shape;253;p35"/>
          <p:cNvSpPr txBox="1"/>
          <p:nvPr/>
        </p:nvSpPr>
        <p:spPr>
          <a:xfrm>
            <a:off x="617236" y="130302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fixed process adds a little Gaussian noise at each of T = 1000 steps:</a:t>
            </a:r>
            <a:endParaRPr sz="1100"/>
          </a:p>
        </p:txBody>
      </p:sp>
      <p:pic>
        <p:nvPicPr>
          <p:cNvPr descr="ddpm_forward.png" id="254" name="Google Shape;25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5025" y="1645920"/>
            <a:ext cx="339387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dpm_alpha.png" id="255" name="Google Shape;25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7143" y="2297430"/>
            <a:ext cx="2129673" cy="377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35"/>
          <p:cNvCxnSpPr/>
          <p:nvPr/>
        </p:nvCxnSpPr>
        <p:spPr>
          <a:xfrm>
            <a:off x="617236" y="305181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7" name="Google Shape;257;p35"/>
          <p:cNvSpPr txBox="1"/>
          <p:nvPr/>
        </p:nvSpPr>
        <p:spPr>
          <a:xfrm>
            <a:off x="617236" y="3257550"/>
            <a:ext cx="79095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β grows linearly from 1e-4 to 0.02. After 1000 steps the image is indistinguishable from noise.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network learns to undo one step; generation starts from noise and runs backwards.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MODEL</a:t>
            </a:r>
            <a:endParaRPr sz="1100"/>
          </a:p>
        </p:txBody>
      </p:sp>
      <p:sp>
        <p:nvSpPr>
          <p:cNvPr id="263" name="Google Shape;263;p36"/>
          <p:cNvSpPr txBox="1"/>
          <p:nvPr/>
        </p:nvSpPr>
        <p:spPr>
          <a:xfrm>
            <a:off x="617236" y="534924"/>
            <a:ext cx="790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formula that makes it </a:t>
            </a:r>
            <a:r>
              <a:rPr lang="en" sz="2000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in training</a:t>
            </a:r>
            <a:endParaRPr sz="1100"/>
          </a:p>
        </p:txBody>
      </p:sp>
      <p:cxnSp>
        <p:nvCxnSpPr>
          <p:cNvPr id="264" name="Google Shape;264;p36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5" name="Google Shape;265;p36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sz="1100"/>
          </a:p>
        </p:txBody>
      </p:sp>
      <p:sp>
        <p:nvSpPr>
          <p:cNvPr id="266" name="Google Shape;266;p36"/>
          <p:cNvSpPr txBox="1"/>
          <p:nvPr/>
        </p:nvSpPr>
        <p:spPr>
          <a:xfrm>
            <a:off x="617236" y="130302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Composing t Gaussian steps gives another Gaussian:</a:t>
            </a:r>
            <a:endParaRPr sz="1100"/>
          </a:p>
        </p:txBody>
      </p:sp>
      <p:pic>
        <p:nvPicPr>
          <p:cNvPr descr="ddpm_marginal.png" id="267" name="Google Shape;2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826" y="1611630"/>
            <a:ext cx="313628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617236" y="216027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 in code, one multiply–add:</a:t>
            </a:r>
            <a:endParaRPr sz="1100"/>
          </a:p>
        </p:txBody>
      </p:sp>
      <p:pic>
        <p:nvPicPr>
          <p:cNvPr descr="ddpm_closed_form.png" id="269" name="Google Shape;26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717" y="2468880"/>
            <a:ext cx="2368519" cy="34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36"/>
          <p:cNvCxnSpPr/>
          <p:nvPr/>
        </p:nvCxnSpPr>
        <p:spPr>
          <a:xfrm>
            <a:off x="617236" y="308610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36"/>
          <p:cNvSpPr txBox="1"/>
          <p:nvPr/>
        </p:nvSpPr>
        <p:spPr>
          <a:xfrm>
            <a:off x="617236" y="3291840"/>
            <a:ext cx="79095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at timestep 700 costs </a:t>
            </a: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operation, not 700 simulated steps.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is why DDPM </a:t>
            </a:r>
            <a:r>
              <a:rPr lang="en" sz="1100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 be in 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parallel, while sampling is expensive and sequential.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LOSS</a:t>
            </a:r>
            <a:endParaRPr sz="1100"/>
          </a:p>
        </p:txBody>
      </p:sp>
      <p:sp>
        <p:nvSpPr>
          <p:cNvPr id="277" name="Google Shape;277;p37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training objective</a:t>
            </a:r>
            <a:endParaRPr sz="1100"/>
          </a:p>
        </p:txBody>
      </p:sp>
      <p:cxnSp>
        <p:nvCxnSpPr>
          <p:cNvPr id="278" name="Google Shape;278;p37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p37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sz="1100"/>
          </a:p>
        </p:txBody>
      </p:sp>
      <p:sp>
        <p:nvSpPr>
          <p:cNvPr id="280" name="Google Shape;280;p37"/>
          <p:cNvSpPr txBox="1"/>
          <p:nvPr/>
        </p:nvSpPr>
        <p:spPr>
          <a:xfrm>
            <a:off x="617236" y="130302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variational bound simplifies to a regression: given a noisy image, predict the noise.</a:t>
            </a:r>
            <a:endParaRPr sz="1100"/>
          </a:p>
        </p:txBody>
      </p:sp>
      <p:pic>
        <p:nvPicPr>
          <p:cNvPr descr="ddpm_loss.png"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2752" y="1714500"/>
            <a:ext cx="2938432" cy="377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37"/>
          <p:cNvCxnSpPr/>
          <p:nvPr/>
        </p:nvCxnSpPr>
        <p:spPr>
          <a:xfrm>
            <a:off x="617236" y="246888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STEPS</a:t>
            </a:r>
            <a:endParaRPr sz="1100"/>
          </a:p>
        </p:txBody>
      </p:sp>
      <p:sp>
        <p:nvSpPr>
          <p:cNvPr id="288" name="Google Shape;288;p38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training step</a:t>
            </a:r>
            <a:endParaRPr sz="1100"/>
          </a:p>
        </p:txBody>
      </p:sp>
      <p:cxnSp>
        <p:nvCxnSpPr>
          <p:cNvPr id="289" name="Google Shape;289;p38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0" name="Google Shape;290;p38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sz="1100"/>
          </a:p>
        </p:txBody>
      </p:sp>
      <p:sp>
        <p:nvSpPr>
          <p:cNvPr id="291" name="Google Shape;291;p38"/>
          <p:cNvSpPr txBox="1"/>
          <p:nvPr/>
        </p:nvSpPr>
        <p:spPr>
          <a:xfrm>
            <a:off x="617236" y="1371600"/>
            <a:ext cx="7909500" cy="19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Draw a clean image x₀ from the batch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Draw a timestep  t ~ Uniform(0, 999)  and noise  ε ~ N(0, I)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Form  xₜ  in closed form — one multiply–add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Predict the noise  ε̂  with the U-Net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" sz="13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MSE, backpropagate, then update the EMA weights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NETWORK</a:t>
            </a:r>
            <a:endParaRPr sz="1100"/>
          </a:p>
        </p:txBody>
      </p:sp>
      <p:sp>
        <p:nvSpPr>
          <p:cNvPr id="297" name="Google Shape;297;p39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network</a:t>
            </a:r>
            <a:endParaRPr sz="1100"/>
          </a:p>
        </p:txBody>
      </p:sp>
      <p:cxnSp>
        <p:nvCxnSpPr>
          <p:cNvPr id="298" name="Google Shape;298;p39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9" name="Google Shape;299;p39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sz="1100"/>
          </a:p>
        </p:txBody>
      </p:sp>
      <p:sp>
        <p:nvSpPr>
          <p:cNvPr id="300" name="Google Shape;300;p39"/>
          <p:cNvSpPr txBox="1"/>
          <p:nvPr/>
        </p:nvSpPr>
        <p:spPr>
          <a:xfrm>
            <a:off x="617236" y="1337310"/>
            <a:ext cx="79095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shape in and out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an image in, a noise map out.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Skip connections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carry high-frequency detail around the bottleneck. Noise is entirely high-frequency, so a plain autoencoder would destroy exactly what we ask it to predict.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Self-attention at 16×16 and below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convolutions are local, so nothing else forces two eyes to match. Cost is (H·W)², affordable only at low resolution.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GroupNorm, not BatchNorm</a:t>
            </a:r>
            <a:r>
              <a:rPr b="0" i="0" lang="en" sz="12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sampling runs at tiny batch sizes.</a:t>
            </a:r>
            <a:endParaRPr sz="1100"/>
          </a:p>
        </p:txBody>
      </p:sp>
      <p:cxnSp>
        <p:nvCxnSpPr>
          <p:cNvPr id="301" name="Google Shape;301;p39"/>
          <p:cNvCxnSpPr/>
          <p:nvPr/>
        </p:nvCxnSpPr>
        <p:spPr>
          <a:xfrm>
            <a:off x="617236" y="366903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2" name="Google Shape;302;p39"/>
          <p:cNvSpPr txBox="1"/>
          <p:nvPr/>
        </p:nvSpPr>
        <p:spPr>
          <a:xfrm>
            <a:off x="617236" y="384048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timestep enters every residual block as a per-channel bias:</a:t>
            </a:r>
            <a:endParaRPr sz="1100"/>
          </a:p>
        </p:txBody>
      </p:sp>
      <p:pic>
        <p:nvPicPr>
          <p:cNvPr descr="ddpm_time_embed.png" id="303" name="Google Shape;3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9232" y="4149090"/>
            <a:ext cx="4605428" cy="260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SAMPLING</a:t>
            </a:r>
            <a:endParaRPr sz="1100"/>
          </a:p>
        </p:txBody>
      </p:sp>
      <p:sp>
        <p:nvSpPr>
          <p:cNvPr id="309" name="Google Shape;309;p40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— ancestral, 1000 steps</a:t>
            </a:r>
            <a:endParaRPr sz="1100"/>
          </a:p>
        </p:txBody>
      </p:sp>
      <p:cxnSp>
        <p:nvCxnSpPr>
          <p:cNvPr id="310" name="Google Shape;310;p40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40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sz="1100"/>
          </a:p>
        </p:txBody>
      </p:sp>
      <p:sp>
        <p:nvSpPr>
          <p:cNvPr id="312" name="Google Shape;312;p40"/>
          <p:cNvSpPr txBox="1"/>
          <p:nvPr/>
        </p:nvSpPr>
        <p:spPr>
          <a:xfrm>
            <a:off x="617236" y="126873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 the noise  →  convert to an estimate of x₀  →  clamp  →  step to the posterior mean  →  add noise.</a:t>
            </a:r>
            <a:endParaRPr sz="1100"/>
          </a:p>
        </p:txBody>
      </p:sp>
      <p:pic>
        <p:nvPicPr>
          <p:cNvPr descr="ddpm_x0hat.png" id="313" name="Google Shape;3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5415" y="1611630"/>
            <a:ext cx="1813136" cy="534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dpm_post_mean.png" id="314" name="Google Shape;31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7204" y="2434590"/>
            <a:ext cx="2989529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40"/>
          <p:cNvCxnSpPr/>
          <p:nvPr/>
        </p:nvCxnSpPr>
        <p:spPr>
          <a:xfrm>
            <a:off x="617236" y="332613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316" name="Google Shape;31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0837" y="3424100"/>
            <a:ext cx="3442324" cy="15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SAMPLING</a:t>
            </a:r>
            <a:endParaRPr sz="1100"/>
          </a:p>
        </p:txBody>
      </p:sp>
      <p:sp>
        <p:nvSpPr>
          <p:cNvPr id="322" name="Google Shape;322;p41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— DDIM, 50–100 steps</a:t>
            </a:r>
            <a:endParaRPr sz="1100"/>
          </a:p>
        </p:txBody>
      </p:sp>
      <p:cxnSp>
        <p:nvCxnSpPr>
          <p:cNvPr id="323" name="Google Shape;323;p41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4" name="Google Shape;324;p41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 sz="1100"/>
          </a:p>
        </p:txBody>
      </p:sp>
      <p:sp>
        <p:nvSpPr>
          <p:cNvPr id="325" name="Google Shape;325;p41"/>
          <p:cNvSpPr txBox="1"/>
          <p:nvPr/>
        </p:nvSpPr>
        <p:spPr>
          <a:xfrm>
            <a:off x="617236" y="126873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objective only constrains the marginals q(xₜ | x₀). Many reverse processes share them — including a deterministic one that skips timesteps.</a:t>
            </a:r>
            <a:endParaRPr sz="1100"/>
          </a:p>
        </p:txBody>
      </p:sp>
      <p:pic>
        <p:nvPicPr>
          <p:cNvPr descr="ddim_update.png" id="326" name="Google Shape;32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0387" y="1748790"/>
            <a:ext cx="34631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dim_sigma.png" id="327" name="Google Shape;32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7174" y="2331720"/>
            <a:ext cx="1969614" cy="51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41"/>
          <p:cNvCxnSpPr/>
          <p:nvPr/>
        </p:nvCxnSpPr>
        <p:spPr>
          <a:xfrm>
            <a:off x="617236" y="315468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9" name="Google Shape;329;p41"/>
          <p:cNvSpPr txBox="1"/>
          <p:nvPr/>
        </p:nvSpPr>
        <p:spPr>
          <a:xfrm>
            <a:off x="617236" y="3360420"/>
            <a:ext cx="79095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 steps instead of 1000 is a 20× speedup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a small quality cost — and the only reason scoring 10,000 images was feasible.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TRAINING</a:t>
            </a:r>
            <a:endParaRPr sz="1100"/>
          </a:p>
        </p:txBody>
      </p:sp>
      <p:sp>
        <p:nvSpPr>
          <p:cNvPr id="335" name="Google Shape;335;p42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weight EMA</a:t>
            </a:r>
            <a:endParaRPr sz="1100"/>
          </a:p>
        </p:txBody>
      </p:sp>
      <p:cxnSp>
        <p:nvCxnSpPr>
          <p:cNvPr id="336" name="Google Shape;336;p42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7" name="Google Shape;337;p42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 sz="1100"/>
          </a:p>
        </p:txBody>
      </p:sp>
      <p:sp>
        <p:nvSpPr>
          <p:cNvPr id="338" name="Google Shape;338;p42"/>
          <p:cNvSpPr txBox="1"/>
          <p:nvPr/>
        </p:nvSpPr>
        <p:spPr>
          <a:xfrm>
            <a:off x="617236" y="126873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Diffusion quality is unusually sensitive to weight noise, so we sample from a smoothed copy:</a:t>
            </a:r>
            <a:endParaRPr sz="1100"/>
          </a:p>
        </p:txBody>
      </p:sp>
      <p:pic>
        <p:nvPicPr>
          <p:cNvPr descr="ema.png" id="339" name="Google Shape;3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1611630"/>
            <a:ext cx="4016793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2"/>
          <p:cNvSpPr txBox="1"/>
          <p:nvPr/>
        </p:nvSpPr>
        <p:spPr>
          <a:xfrm>
            <a:off x="617236" y="2160270"/>
            <a:ext cx="4252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But the shadow starts as a copy of the random initialisation, and with a fixed d = 0.9999 it stays there:</a:t>
            </a:r>
            <a:endParaRPr sz="1100"/>
          </a:p>
        </p:txBody>
      </p:sp>
      <p:graphicFrame>
        <p:nvGraphicFramePr>
          <p:cNvPr id="341" name="Google Shape;341;p42"/>
          <p:cNvGraphicFramePr/>
          <p:nvPr/>
        </p:nvGraphicFramePr>
        <p:xfrm>
          <a:off x="617236" y="27089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{5CE8222B-225F-4B6D-BB30-33DF1FAB5BA6}</a:tableStyleId>
              </a:tblPr>
              <a:tblGrid>
                <a:gridCol w="1165875"/>
                <a:gridCol w="1371625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updates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still random init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1,000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90%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11,000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33%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30,000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5%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2" name="Google Shape;342;p42"/>
          <p:cNvSpPr txBox="1"/>
          <p:nvPr/>
        </p:nvSpPr>
        <p:spPr>
          <a:xfrm>
            <a:off x="3772001" y="2708910"/>
            <a:ext cx="46635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fix — ramp the decay in from near zero:</a:t>
            </a:r>
            <a:endParaRPr sz="1100"/>
          </a:p>
        </p:txBody>
      </p:sp>
      <p:pic>
        <p:nvPicPr>
          <p:cNvPr descr="ema_ramp.png" id="343" name="Google Shape;34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2229" y="3051810"/>
            <a:ext cx="1743062" cy="42519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2"/>
          <p:cNvSpPr txBox="1"/>
          <p:nvPr/>
        </p:nvSpPr>
        <p:spPr>
          <a:xfrm>
            <a:off x="617236" y="4457700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step 0 that is 0.1, so real weights dominate immediately.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sz="1100"/>
          </a:p>
        </p:txBody>
      </p:sp>
      <p:sp>
        <p:nvSpPr>
          <p:cNvPr id="350" name="Google Shape;350;p43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FID — lower is better</a:t>
            </a:r>
            <a:endParaRPr sz="1100"/>
          </a:p>
        </p:txBody>
      </p:sp>
      <p:cxnSp>
        <p:nvCxnSpPr>
          <p:cNvPr id="351" name="Google Shape;351;p43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2" name="Google Shape;352;p43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sz="1100"/>
          </a:p>
        </p:txBody>
      </p:sp>
      <p:sp>
        <p:nvSpPr>
          <p:cNvPr id="353" name="Google Shape;353;p43"/>
          <p:cNvSpPr txBox="1"/>
          <p:nvPr/>
        </p:nvSpPr>
        <p:spPr>
          <a:xfrm>
            <a:off x="617236" y="1303020"/>
            <a:ext cx="79095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Summarise each image set as one 2048-d Gaussian over InceptionV3 features, then measure the distance:</a:t>
            </a:r>
            <a:endParaRPr sz="1100"/>
          </a:p>
        </p:txBody>
      </p:sp>
      <p:pic>
        <p:nvPicPr>
          <p:cNvPr descr="fid.png" id="354" name="Google Shape;3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8757" y="1680210"/>
            <a:ext cx="4566379" cy="342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43"/>
          <p:cNvCxnSpPr/>
          <p:nvPr/>
        </p:nvCxnSpPr>
        <p:spPr>
          <a:xfrm>
            <a:off x="617236" y="236601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6" name="Google Shape;356;p43"/>
          <p:cNvSpPr txBox="1"/>
          <p:nvPr/>
        </p:nvSpPr>
        <p:spPr>
          <a:xfrm>
            <a:off x="617236" y="2606040"/>
            <a:ext cx="79095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term: how far apart the two </a:t>
            </a:r>
            <a:r>
              <a:rPr b="0" i="1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average images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sit. Second: how differently the sets are spread.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 FID responds to </a:t>
            </a: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realism and diversity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one perfect face every time scores terribly.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sz="1100"/>
          </a:p>
        </p:txBody>
      </p:sp>
      <p:sp>
        <p:nvSpPr>
          <p:cNvPr id="362" name="Google Shape;362;p44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Inception Score — and why it is weak here</a:t>
            </a:r>
            <a:endParaRPr sz="1100"/>
          </a:p>
        </p:txBody>
      </p:sp>
      <p:cxnSp>
        <p:nvCxnSpPr>
          <p:cNvPr id="363" name="Google Shape;363;p44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4" name="Google Shape;364;p44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 sz="1100"/>
          </a:p>
        </p:txBody>
      </p:sp>
      <p:pic>
        <p:nvPicPr>
          <p:cNvPr descr="inception_score.png" id="365" name="Google Shape;36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367" y="1268730"/>
            <a:ext cx="3555187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4"/>
          <p:cNvSpPr txBox="1"/>
          <p:nvPr/>
        </p:nvSpPr>
        <p:spPr>
          <a:xfrm>
            <a:off x="617236" y="1783080"/>
            <a:ext cx="7909542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Large when samples are confident </a:t>
            </a: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set is diverse. Uses no labels, and never looks at the real images.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But ImageNet has no </a:t>
            </a:r>
            <a:r>
              <a:rPr b="0" i="1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class. Over 500 real CelebA images, Inception answers:</a:t>
            </a:r>
            <a:endParaRPr sz="1100"/>
          </a:p>
        </p:txBody>
      </p:sp>
      <p:graphicFrame>
        <p:nvGraphicFramePr>
          <p:cNvPr id="367" name="Google Shape;367;p44"/>
          <p:cNvGraphicFramePr/>
          <p:nvPr/>
        </p:nvGraphicFramePr>
        <p:xfrm>
          <a:off x="617236" y="2674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{5CE8222B-225F-4B6D-BB30-33DF1FAB5BA6}</a:tableStyleId>
              </a:tblPr>
              <a:tblGrid>
                <a:gridCol w="1508775"/>
                <a:gridCol w="96012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Windsor tie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83 / 500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maillot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65 / 500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jersey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/ 500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brassiere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33 / 500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tench (a fish)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 / 500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44"/>
          <p:cNvSpPr txBox="1"/>
          <p:nvPr/>
        </p:nvSpPr>
        <p:spPr>
          <a:xfrm>
            <a:off x="3634837" y="2708910"/>
            <a:ext cx="48693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CelebA scores IS = 3.07 ± 0.09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</a:t>
            </a:r>
            <a:r>
              <a:rPr lang="en" sz="1100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don’t know what it means here? Ceiling maybe?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NUMBERS</a:t>
            </a:r>
            <a:endParaRPr sz="1100"/>
          </a:p>
        </p:txBody>
      </p:sp>
      <p:sp>
        <p:nvSpPr>
          <p:cNvPr id="374" name="Google Shape;374;p45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</a:t>
            </a:r>
            <a:endParaRPr sz="1100"/>
          </a:p>
        </p:txBody>
      </p:sp>
      <p:cxnSp>
        <p:nvCxnSpPr>
          <p:cNvPr id="375" name="Google Shape;375;p45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6" name="Google Shape;376;p45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sz="1100"/>
          </a:p>
        </p:txBody>
      </p:sp>
      <p:graphicFrame>
        <p:nvGraphicFramePr>
          <p:cNvPr id="377" name="Google Shape;377;p45"/>
          <p:cNvGraphicFramePr/>
          <p:nvPr/>
        </p:nvGraphicFramePr>
        <p:xfrm>
          <a:off x="754449" y="12859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{5CE8222B-225F-4B6D-BB30-33DF1FAB5BA6}</a:tableStyleId>
              </a:tblPr>
              <a:tblGrid>
                <a:gridCol w="2263200"/>
                <a:gridCol w="891550"/>
                <a:gridCol w="1303025"/>
                <a:gridCol w="891550"/>
                <a:gridCol w="1783125"/>
              </a:tblGrid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FID ↓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IS ↑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Params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Training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VAE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72.06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1.95 ± 0.03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8.73M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25 ep · 35 min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DDPM  (DDIM, 100 steps)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9.63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2.57 ± 0.04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17.22M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0B0B0B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20 ep · 7 h 13 min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real CelebA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3.07 ± 0.09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89878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1100"/>
                    </a:p>
                  </a:txBody>
                  <a:tcPr marT="20575" marB="20575" marR="54875" marL="20575" anchor="ctr">
                    <a:lnL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CFC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0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8" name="Google Shape;378;p45"/>
          <p:cNvCxnSpPr/>
          <p:nvPr/>
        </p:nvCxnSpPr>
        <p:spPr>
          <a:xfrm>
            <a:off x="617236" y="2846070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45"/>
          <p:cNvSpPr txBox="1"/>
          <p:nvPr/>
        </p:nvSpPr>
        <p:spPr>
          <a:xfrm>
            <a:off x="617236" y="4491990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RTX 3060 Laptop GPU (6 GB) · 10,000 generated images scored against 10,000 real.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SAMPLES</a:t>
            </a:r>
            <a:endParaRPr sz="1100"/>
          </a:p>
        </p:txBody>
      </p:sp>
      <p:sp>
        <p:nvSpPr>
          <p:cNvPr id="385" name="Google Shape;385;p46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· VAE · DDPM</a:t>
            </a:r>
            <a:endParaRPr sz="1100"/>
          </a:p>
        </p:txBody>
      </p:sp>
      <p:cxnSp>
        <p:nvCxnSpPr>
          <p:cNvPr id="386" name="Google Shape;386;p46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7" name="Google Shape;387;p46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 sz="1100"/>
          </a:p>
        </p:txBody>
      </p:sp>
      <p:pic>
        <p:nvPicPr>
          <p:cNvPr descr="comparison.png" id="388" name="Google Shape;38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866" y="1200150"/>
            <a:ext cx="7468085" cy="298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VAE · SAMPLES</a:t>
            </a:r>
            <a:endParaRPr sz="1100"/>
          </a:p>
        </p:txBody>
      </p:sp>
      <p:sp>
        <p:nvSpPr>
          <p:cNvPr id="394" name="Google Shape;394;p47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128-d code keeps</a:t>
            </a:r>
            <a:endParaRPr sz="1100"/>
          </a:p>
        </p:txBody>
      </p:sp>
      <p:cxnSp>
        <p:nvCxnSpPr>
          <p:cNvPr id="395" name="Google Shape;395;p47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6" name="Google Shape;396;p47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 sz="1100"/>
          </a:p>
        </p:txBody>
      </p:sp>
      <p:pic>
        <p:nvPicPr>
          <p:cNvPr descr="reconstructions.png" id="397" name="Google Shape;3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7498" y="1200150"/>
            <a:ext cx="2948940" cy="294894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7"/>
          <p:cNvSpPr txBox="1"/>
          <p:nvPr/>
        </p:nvSpPr>
        <p:spPr>
          <a:xfrm>
            <a:off x="617236" y="4423410"/>
            <a:ext cx="790954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2514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four rows real, bottom four reconstructed.  Kept: identity, pose, gaze, hair, lighting.  Lost: everything that occurs once — text on a sign, glasses, a smile's shape.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SAMPLES</a:t>
            </a:r>
            <a:endParaRPr sz="1100"/>
          </a:p>
        </p:txBody>
      </p:sp>
      <p:sp>
        <p:nvSpPr>
          <p:cNvPr id="404" name="Google Shape;404;p48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reverse process does</a:t>
            </a:r>
            <a:endParaRPr sz="1100"/>
          </a:p>
        </p:txBody>
      </p:sp>
      <p:cxnSp>
        <p:nvCxnSpPr>
          <p:cNvPr id="405" name="Google Shape;405;p48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6" name="Google Shape;406;p48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 sz="1100"/>
          </a:p>
        </p:txBody>
      </p:sp>
      <p:pic>
        <p:nvPicPr>
          <p:cNvPr descr="trajectory.png" id="407" name="Google Shape;4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039" y="1165860"/>
            <a:ext cx="6137773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DDPM · SAMPLES</a:t>
            </a:r>
            <a:endParaRPr sz="1100"/>
          </a:p>
        </p:txBody>
      </p:sp>
      <p:sp>
        <p:nvSpPr>
          <p:cNvPr id="413" name="Google Shape;413;p49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few steps you can get away with</a:t>
            </a:r>
            <a:endParaRPr sz="1100"/>
          </a:p>
        </p:txBody>
      </p:sp>
      <p:cxnSp>
        <p:nvCxnSpPr>
          <p:cNvPr id="414" name="Google Shape;414;p49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5" name="Google Shape;415;p49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 sz="1100"/>
          </a:p>
        </p:txBody>
      </p:sp>
      <p:pic>
        <p:nvPicPr>
          <p:cNvPr descr="ddim_steps.png" id="416" name="Google Shape;41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559" y="1165860"/>
            <a:ext cx="4874767" cy="288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/>
        </p:nvSpPr>
        <p:spPr>
          <a:xfrm>
            <a:off x="617236" y="315468"/>
            <a:ext cx="7909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</a:t>
            </a:r>
            <a:endParaRPr sz="1100"/>
          </a:p>
        </p:txBody>
      </p:sp>
      <p:sp>
        <p:nvSpPr>
          <p:cNvPr id="422" name="Google Shape;422;p50"/>
          <p:cNvSpPr txBox="1"/>
          <p:nvPr/>
        </p:nvSpPr>
        <p:spPr>
          <a:xfrm>
            <a:off x="617236" y="534924"/>
            <a:ext cx="790954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two models fail in opposite directions</a:t>
            </a:r>
            <a:endParaRPr sz="1100"/>
          </a:p>
        </p:txBody>
      </p:sp>
      <p:cxnSp>
        <p:nvCxnSpPr>
          <p:cNvPr id="423" name="Google Shape;423;p50"/>
          <p:cNvCxnSpPr/>
          <p:nvPr/>
        </p:nvCxnSpPr>
        <p:spPr>
          <a:xfrm>
            <a:off x="617236" y="987552"/>
            <a:ext cx="7909542" cy="0"/>
          </a:xfrm>
          <a:prstGeom prst="straightConnector1">
            <a:avLst/>
          </a:prstGeom>
          <a:noFill/>
          <a:ln cap="flat" cmpd="sng" w="9525">
            <a:solidFill>
              <a:srgbClr val="E1E0D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4" name="Google Shape;424;p50"/>
          <p:cNvSpPr txBox="1"/>
          <p:nvPr/>
        </p:nvSpPr>
        <p:spPr>
          <a:xfrm>
            <a:off x="7840960" y="4718304"/>
            <a:ext cx="685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 sz="1100"/>
          </a:p>
        </p:txBody>
      </p:sp>
      <p:pic>
        <p:nvPicPr>
          <p:cNvPr descr="typical_atypical.png" id="425" name="Google Shape;42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36" y="1165860"/>
            <a:ext cx="7909333" cy="2018938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0"/>
          <p:cNvSpPr txBox="1"/>
          <p:nvPr/>
        </p:nvSpPr>
        <p:spPr>
          <a:xfrm>
            <a:off x="617236" y="4046220"/>
            <a:ext cx="79095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VAE's worst samples are boring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off-centre, dark, blurrier than its median, but always face-shaped. Failure mode: </a:t>
            </a:r>
            <a:r>
              <a:rPr b="0" i="1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absence of detail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/>
          </a:p>
          <a:p>
            <a:pPr indent="0" lvl="0" marL="0" marR="0" rtl="0"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DDPM's worst samples are wrong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melted features, a mouth in the wrong place. Confidently rendered nonsense. Failure mode: </a:t>
            </a:r>
            <a:r>
              <a:rPr b="0" i="1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commitment to the wrong answer</a:t>
            </a:r>
            <a:r>
              <a:rPr b="0" i="0" lang="en" sz="11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"/>
          <p:cNvSpPr txBox="1"/>
          <p:nvPr/>
        </p:nvSpPr>
        <p:spPr>
          <a:xfrm>
            <a:off x="617236" y="1988820"/>
            <a:ext cx="790954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B0B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1100"/>
          </a:p>
        </p:txBody>
      </p:sp>
      <p:cxnSp>
        <p:nvCxnSpPr>
          <p:cNvPr id="432" name="Google Shape;432;p51"/>
          <p:cNvCxnSpPr/>
          <p:nvPr/>
        </p:nvCxnSpPr>
        <p:spPr>
          <a:xfrm>
            <a:off x="617236" y="2708910"/>
            <a:ext cx="1508800" cy="0"/>
          </a:xfrm>
          <a:prstGeom prst="straightConnector1">
            <a:avLst/>
          </a:prstGeom>
          <a:noFill/>
          <a:ln cap="flat" cmpd="sng" w="19050">
            <a:solidFill>
              <a:srgbClr val="0B0B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3" name="Google Shape;433;p51"/>
          <p:cNvSpPr txBox="1"/>
          <p:nvPr/>
        </p:nvSpPr>
        <p:spPr>
          <a:xfrm>
            <a:off x="617236" y="2914650"/>
            <a:ext cx="7909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987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Abdelrahman Elaraby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